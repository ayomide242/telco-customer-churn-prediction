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62" r:id="rId10"/>
    <p:sldId id="263" r:id="rId11"/>
    <p:sldId id="264" r:id="rId12"/>
    <p:sldId id="265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2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00065E-38AF-4554-97CA-823F9E4A22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2490AE-A646-40ED-AEA1-87A3F9A89CE9}">
      <dgm:prSet/>
      <dgm:spPr/>
      <dgm:t>
        <a:bodyPr/>
        <a:lstStyle/>
        <a:p>
          <a:r>
            <a:rPr lang="en-GB" dirty="0"/>
            <a:t>Churn seem higher among Senior Citizen</a:t>
          </a:r>
          <a:endParaRPr lang="en-US" dirty="0"/>
        </a:p>
      </dgm:t>
    </dgm:pt>
    <dgm:pt modelId="{A8DF402E-5219-4329-8743-AF5B15228B20}" type="parTrans" cxnId="{07437BB6-F2F1-43DE-9AF6-3FE71993C4E6}">
      <dgm:prSet/>
      <dgm:spPr/>
      <dgm:t>
        <a:bodyPr/>
        <a:lstStyle/>
        <a:p>
          <a:endParaRPr lang="en-US"/>
        </a:p>
      </dgm:t>
    </dgm:pt>
    <dgm:pt modelId="{51F08F42-D68B-4301-90B8-297D408CB081}" type="sibTrans" cxnId="{07437BB6-F2F1-43DE-9AF6-3FE71993C4E6}">
      <dgm:prSet/>
      <dgm:spPr/>
      <dgm:t>
        <a:bodyPr/>
        <a:lstStyle/>
        <a:p>
          <a:endParaRPr lang="en-US"/>
        </a:p>
      </dgm:t>
    </dgm:pt>
    <dgm:pt modelId="{A552F794-4ABD-4962-968F-652BBF7748C1}">
      <dgm:prSet/>
      <dgm:spPr/>
      <dgm:t>
        <a:bodyPr/>
        <a:lstStyle/>
        <a:p>
          <a:r>
            <a:rPr lang="en-GB" dirty="0"/>
            <a:t>Customers who did not churn have a higher median tenure and broader tenure range, suggesting long-term customers are more stable and less likely to cancel.</a:t>
          </a:r>
          <a:endParaRPr lang="en-US" dirty="0"/>
        </a:p>
      </dgm:t>
    </dgm:pt>
    <dgm:pt modelId="{422A1989-6331-4C7F-8C0C-2727EAA93221}" type="parTrans" cxnId="{F21C5EF9-EA40-4597-A43E-1C0B6953D6BA}">
      <dgm:prSet/>
      <dgm:spPr/>
      <dgm:t>
        <a:bodyPr/>
        <a:lstStyle/>
        <a:p>
          <a:endParaRPr lang="en-US"/>
        </a:p>
      </dgm:t>
    </dgm:pt>
    <dgm:pt modelId="{94EBACBA-6C67-4098-9F8E-51769793E01A}" type="sibTrans" cxnId="{F21C5EF9-EA40-4597-A43E-1C0B6953D6BA}">
      <dgm:prSet/>
      <dgm:spPr/>
      <dgm:t>
        <a:bodyPr/>
        <a:lstStyle/>
        <a:p>
          <a:endParaRPr lang="en-US"/>
        </a:p>
      </dgm:t>
    </dgm:pt>
    <dgm:pt modelId="{33901655-0B35-430D-86B2-5F2FA63D5C4C}">
      <dgm:prSet/>
      <dgm:spPr/>
      <dgm:t>
        <a:bodyPr/>
        <a:lstStyle/>
        <a:p>
          <a:r>
            <a:rPr lang="en-GB" dirty="0"/>
            <a:t>Churned customers generally have lower median and shorter tenures. Mostly under 20 months, indicating newer customers are more likely to leave.</a:t>
          </a:r>
          <a:endParaRPr lang="en-US" dirty="0"/>
        </a:p>
      </dgm:t>
    </dgm:pt>
    <dgm:pt modelId="{8F786F1F-6E69-42A2-BB65-22A0BA3CF6E3}" type="parTrans" cxnId="{4386F9DF-D48D-46F5-9535-952B2E7BAED4}">
      <dgm:prSet/>
      <dgm:spPr/>
      <dgm:t>
        <a:bodyPr/>
        <a:lstStyle/>
        <a:p>
          <a:endParaRPr lang="en-US"/>
        </a:p>
      </dgm:t>
    </dgm:pt>
    <dgm:pt modelId="{68C39B5B-B060-480C-BA5A-179DBB097CCD}" type="sibTrans" cxnId="{4386F9DF-D48D-46F5-9535-952B2E7BAED4}">
      <dgm:prSet/>
      <dgm:spPr/>
      <dgm:t>
        <a:bodyPr/>
        <a:lstStyle/>
        <a:p>
          <a:endParaRPr lang="en-US"/>
        </a:p>
      </dgm:t>
    </dgm:pt>
    <dgm:pt modelId="{44EEC247-2E1D-4FE4-9C7C-F6113AE9E0CE}">
      <dgm:prSet/>
      <dgm:spPr/>
      <dgm:t>
        <a:bodyPr/>
        <a:lstStyle/>
        <a:p>
          <a:r>
            <a:rPr lang="en-GB" dirty="0"/>
            <a:t>Churn frequency is highest among short-tenure customers and gradually decreases as tenure increases, while non-churned customers dominate the longer tenure ranges.</a:t>
          </a:r>
          <a:endParaRPr lang="en-US" dirty="0"/>
        </a:p>
      </dgm:t>
    </dgm:pt>
    <dgm:pt modelId="{2D2D9E17-BE30-4B06-B460-CDC86B80BDAE}" type="parTrans" cxnId="{F61804A7-CFA4-4A14-8B01-F8ED770839CE}">
      <dgm:prSet/>
      <dgm:spPr/>
      <dgm:t>
        <a:bodyPr/>
        <a:lstStyle/>
        <a:p>
          <a:endParaRPr lang="en-US"/>
        </a:p>
      </dgm:t>
    </dgm:pt>
    <dgm:pt modelId="{AFE0507A-E5F2-4EDA-A599-1CE25D381894}" type="sibTrans" cxnId="{F61804A7-CFA4-4A14-8B01-F8ED770839CE}">
      <dgm:prSet/>
      <dgm:spPr/>
      <dgm:t>
        <a:bodyPr/>
        <a:lstStyle/>
        <a:p>
          <a:endParaRPr lang="en-US"/>
        </a:p>
      </dgm:t>
    </dgm:pt>
    <dgm:pt modelId="{69215CDF-019E-4E11-B161-DCD549376A7D}" type="pres">
      <dgm:prSet presAssocID="{8900065E-38AF-4554-97CA-823F9E4A22E0}" presName="linear" presStyleCnt="0">
        <dgm:presLayoutVars>
          <dgm:animLvl val="lvl"/>
          <dgm:resizeHandles val="exact"/>
        </dgm:presLayoutVars>
      </dgm:prSet>
      <dgm:spPr/>
    </dgm:pt>
    <dgm:pt modelId="{BD38A898-4E23-436F-8A19-69642F6B3276}" type="pres">
      <dgm:prSet presAssocID="{A62490AE-A646-40ED-AEA1-87A3F9A89C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FFCFEF-2EFF-43D3-BCA6-DDCBFCC90D19}" type="pres">
      <dgm:prSet presAssocID="{51F08F42-D68B-4301-90B8-297D408CB081}" presName="spacer" presStyleCnt="0"/>
      <dgm:spPr/>
    </dgm:pt>
    <dgm:pt modelId="{7C279F2E-0274-4B97-B4E3-F37342D99387}" type="pres">
      <dgm:prSet presAssocID="{A552F794-4ABD-4962-968F-652BBF7748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1A0506F-A357-4FDC-BA9A-D1E61007ADEE}" type="pres">
      <dgm:prSet presAssocID="{94EBACBA-6C67-4098-9F8E-51769793E01A}" presName="spacer" presStyleCnt="0"/>
      <dgm:spPr/>
    </dgm:pt>
    <dgm:pt modelId="{C584B424-986E-4098-B16F-F6D9D5A1475A}" type="pres">
      <dgm:prSet presAssocID="{33901655-0B35-430D-86B2-5F2FA63D5C4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BD5C36-6E6E-41E0-96DD-16AE6254AA15}" type="pres">
      <dgm:prSet presAssocID="{68C39B5B-B060-480C-BA5A-179DBB097CCD}" presName="spacer" presStyleCnt="0"/>
      <dgm:spPr/>
    </dgm:pt>
    <dgm:pt modelId="{D3B67D55-E86D-4DDB-A826-F3FC84A1E1DB}" type="pres">
      <dgm:prSet presAssocID="{44EEC247-2E1D-4FE4-9C7C-F6113AE9E0C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1F98320-C0B1-4611-B444-038D868F932B}" type="presOf" srcId="{A552F794-4ABD-4962-968F-652BBF7748C1}" destId="{7C279F2E-0274-4B97-B4E3-F37342D99387}" srcOrd="0" destOrd="0" presId="urn:microsoft.com/office/officeart/2005/8/layout/vList2"/>
    <dgm:cxn modelId="{FFA7AD40-A677-4CB0-A15B-42A89BA10C1A}" type="presOf" srcId="{A62490AE-A646-40ED-AEA1-87A3F9A89CE9}" destId="{BD38A898-4E23-436F-8A19-69642F6B3276}" srcOrd="0" destOrd="0" presId="urn:microsoft.com/office/officeart/2005/8/layout/vList2"/>
    <dgm:cxn modelId="{5A68B86C-AB9D-4FC2-BDF0-699F5094C0B8}" type="presOf" srcId="{8900065E-38AF-4554-97CA-823F9E4A22E0}" destId="{69215CDF-019E-4E11-B161-DCD549376A7D}" srcOrd="0" destOrd="0" presId="urn:microsoft.com/office/officeart/2005/8/layout/vList2"/>
    <dgm:cxn modelId="{F61804A7-CFA4-4A14-8B01-F8ED770839CE}" srcId="{8900065E-38AF-4554-97CA-823F9E4A22E0}" destId="{44EEC247-2E1D-4FE4-9C7C-F6113AE9E0CE}" srcOrd="3" destOrd="0" parTransId="{2D2D9E17-BE30-4B06-B460-CDC86B80BDAE}" sibTransId="{AFE0507A-E5F2-4EDA-A599-1CE25D381894}"/>
    <dgm:cxn modelId="{07437BB6-F2F1-43DE-9AF6-3FE71993C4E6}" srcId="{8900065E-38AF-4554-97CA-823F9E4A22E0}" destId="{A62490AE-A646-40ED-AEA1-87A3F9A89CE9}" srcOrd="0" destOrd="0" parTransId="{A8DF402E-5219-4329-8743-AF5B15228B20}" sibTransId="{51F08F42-D68B-4301-90B8-297D408CB081}"/>
    <dgm:cxn modelId="{23D5D7DA-4105-45A9-B7B7-AD6CCBD76820}" type="presOf" srcId="{33901655-0B35-430D-86B2-5F2FA63D5C4C}" destId="{C584B424-986E-4098-B16F-F6D9D5A1475A}" srcOrd="0" destOrd="0" presId="urn:microsoft.com/office/officeart/2005/8/layout/vList2"/>
    <dgm:cxn modelId="{4386F9DF-D48D-46F5-9535-952B2E7BAED4}" srcId="{8900065E-38AF-4554-97CA-823F9E4A22E0}" destId="{33901655-0B35-430D-86B2-5F2FA63D5C4C}" srcOrd="2" destOrd="0" parTransId="{8F786F1F-6E69-42A2-BB65-22A0BA3CF6E3}" sibTransId="{68C39B5B-B060-480C-BA5A-179DBB097CCD}"/>
    <dgm:cxn modelId="{C437BBEC-92F7-4439-BD26-81E28E40330B}" type="presOf" srcId="{44EEC247-2E1D-4FE4-9C7C-F6113AE9E0CE}" destId="{D3B67D55-E86D-4DDB-A826-F3FC84A1E1DB}" srcOrd="0" destOrd="0" presId="urn:microsoft.com/office/officeart/2005/8/layout/vList2"/>
    <dgm:cxn modelId="{F21C5EF9-EA40-4597-A43E-1C0B6953D6BA}" srcId="{8900065E-38AF-4554-97CA-823F9E4A22E0}" destId="{A552F794-4ABD-4962-968F-652BBF7748C1}" srcOrd="1" destOrd="0" parTransId="{422A1989-6331-4C7F-8C0C-2727EAA93221}" sibTransId="{94EBACBA-6C67-4098-9F8E-51769793E01A}"/>
    <dgm:cxn modelId="{2D7EA715-B923-4796-A8ED-4CF7F9727D38}" type="presParOf" srcId="{69215CDF-019E-4E11-B161-DCD549376A7D}" destId="{BD38A898-4E23-436F-8A19-69642F6B3276}" srcOrd="0" destOrd="0" presId="urn:microsoft.com/office/officeart/2005/8/layout/vList2"/>
    <dgm:cxn modelId="{40EC59EC-ED43-454B-A8C5-D1F8304F5E03}" type="presParOf" srcId="{69215CDF-019E-4E11-B161-DCD549376A7D}" destId="{A7FFCFEF-2EFF-43D3-BCA6-DDCBFCC90D19}" srcOrd="1" destOrd="0" presId="urn:microsoft.com/office/officeart/2005/8/layout/vList2"/>
    <dgm:cxn modelId="{377E504F-B0F3-450A-BCDB-9FD62EEF2ABE}" type="presParOf" srcId="{69215CDF-019E-4E11-B161-DCD549376A7D}" destId="{7C279F2E-0274-4B97-B4E3-F37342D99387}" srcOrd="2" destOrd="0" presId="urn:microsoft.com/office/officeart/2005/8/layout/vList2"/>
    <dgm:cxn modelId="{704ADF18-53D7-4C4F-B7F8-8FE225B7A38A}" type="presParOf" srcId="{69215CDF-019E-4E11-B161-DCD549376A7D}" destId="{E1A0506F-A357-4FDC-BA9A-D1E61007ADEE}" srcOrd="3" destOrd="0" presId="urn:microsoft.com/office/officeart/2005/8/layout/vList2"/>
    <dgm:cxn modelId="{72BB7DC3-4E21-4EAB-A97E-5F1DBC38B0C1}" type="presParOf" srcId="{69215CDF-019E-4E11-B161-DCD549376A7D}" destId="{C584B424-986E-4098-B16F-F6D9D5A1475A}" srcOrd="4" destOrd="0" presId="urn:microsoft.com/office/officeart/2005/8/layout/vList2"/>
    <dgm:cxn modelId="{8574547B-9912-49A7-AE33-94F1E5A1BEF2}" type="presParOf" srcId="{69215CDF-019E-4E11-B161-DCD549376A7D}" destId="{07BD5C36-6E6E-41E0-96DD-16AE6254AA15}" srcOrd="5" destOrd="0" presId="urn:microsoft.com/office/officeart/2005/8/layout/vList2"/>
    <dgm:cxn modelId="{ED4413F4-ECA5-41DA-B634-0578616ABA1D}" type="presParOf" srcId="{69215CDF-019E-4E11-B161-DCD549376A7D}" destId="{D3B67D55-E86D-4DDB-A826-F3FC84A1E1D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8A898-4E23-436F-8A19-69642F6B3276}">
      <dsp:nvSpPr>
        <dsp:cNvPr id="0" name=""/>
        <dsp:cNvSpPr/>
      </dsp:nvSpPr>
      <dsp:spPr>
        <a:xfrm>
          <a:off x="0" y="94189"/>
          <a:ext cx="5329030" cy="43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Churn seem higher among Senior Citizen</a:t>
          </a:r>
          <a:endParaRPr lang="en-US" sz="1100" kern="1200" dirty="0"/>
        </a:p>
      </dsp:txBody>
      <dsp:txXfrm>
        <a:off x="21331" y="115520"/>
        <a:ext cx="5286368" cy="394314"/>
      </dsp:txXfrm>
    </dsp:sp>
    <dsp:sp modelId="{7C279F2E-0274-4B97-B4E3-F37342D99387}">
      <dsp:nvSpPr>
        <dsp:cNvPr id="0" name=""/>
        <dsp:cNvSpPr/>
      </dsp:nvSpPr>
      <dsp:spPr>
        <a:xfrm>
          <a:off x="0" y="562845"/>
          <a:ext cx="5329030" cy="43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Customers who did not churn have a higher median tenure and broader tenure range, suggesting long-term customers are more stable and less likely to cancel.</a:t>
          </a:r>
          <a:endParaRPr lang="en-US" sz="1100" kern="1200" dirty="0"/>
        </a:p>
      </dsp:txBody>
      <dsp:txXfrm>
        <a:off x="21331" y="584176"/>
        <a:ext cx="5286368" cy="394314"/>
      </dsp:txXfrm>
    </dsp:sp>
    <dsp:sp modelId="{C584B424-986E-4098-B16F-F6D9D5A1475A}">
      <dsp:nvSpPr>
        <dsp:cNvPr id="0" name=""/>
        <dsp:cNvSpPr/>
      </dsp:nvSpPr>
      <dsp:spPr>
        <a:xfrm>
          <a:off x="0" y="1031502"/>
          <a:ext cx="5329030" cy="43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Churned customers generally have lower median and shorter tenures. Mostly under 20 months, indicating newer customers are more likely to leave.</a:t>
          </a:r>
          <a:endParaRPr lang="en-US" sz="1100" kern="1200" dirty="0"/>
        </a:p>
      </dsp:txBody>
      <dsp:txXfrm>
        <a:off x="21331" y="1052833"/>
        <a:ext cx="5286368" cy="394314"/>
      </dsp:txXfrm>
    </dsp:sp>
    <dsp:sp modelId="{D3B67D55-E86D-4DDB-A826-F3FC84A1E1DB}">
      <dsp:nvSpPr>
        <dsp:cNvPr id="0" name=""/>
        <dsp:cNvSpPr/>
      </dsp:nvSpPr>
      <dsp:spPr>
        <a:xfrm>
          <a:off x="0" y="1500159"/>
          <a:ext cx="5329030" cy="43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Churn frequency is highest among short-tenure customers and gradually decreases as tenure increases, while non-churned customers dominate the longer tenure ranges.</a:t>
          </a:r>
          <a:endParaRPr lang="en-US" sz="1100" kern="1200" dirty="0"/>
        </a:p>
      </dsp:txBody>
      <dsp:txXfrm>
        <a:off x="21331" y="1521490"/>
        <a:ext cx="5286368" cy="394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633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&amp; Business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Analysis: Data Prep | EDA | Segmentation | Prediction |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65176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517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Analyzed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04088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40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Analyze customer churn patterns in a telecommunications industry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Segment customers based on behavior and value</a:t>
            </a:r>
          </a:p>
          <a:p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 predictive models to identify at-risk customers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Provide actionable business recommendations for retention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Data Preparation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41148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32020" y="164303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5CF7E-B551-3865-B4D8-3B85FB0A6CA8}"/>
              </a:ext>
            </a:extLst>
          </p:cNvPr>
          <p:cNvSpPr txBox="1"/>
          <p:nvPr/>
        </p:nvSpPr>
        <p:spPr>
          <a:xfrm>
            <a:off x="4732020" y="2017455"/>
            <a:ext cx="379476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EDA: </a:t>
            </a:r>
          </a:p>
          <a:p>
            <a:endParaRPr lang="en-US" sz="1000" dirty="0">
              <a:solidFill>
                <a:srgbClr val="2C3E5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Removed duplicate records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Handled missing </a:t>
            </a:r>
            <a:r>
              <a:rPr lang="en-US" sz="1000" dirty="0" err="1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TotalCharges</a:t>
            </a:r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(mean imputation)</a:t>
            </a:r>
          </a:p>
          <a:p>
            <a:endParaRPr lang="en-US" sz="1000" dirty="0">
              <a:solidFill>
                <a:srgbClr val="2C3E5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Model: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Encoded categorical variables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Split data: 80% train, 20% test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Standardized numerical features</a:t>
            </a:r>
          </a:p>
          <a:p>
            <a:endParaRPr lang="en-US" sz="1000" dirty="0">
              <a:solidFill>
                <a:srgbClr val="2C3E5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AF7BB-848B-30D9-C5F0-513E98E38285}"/>
              </a:ext>
            </a:extLst>
          </p:cNvPr>
          <p:cNvSpPr txBox="1"/>
          <p:nvPr/>
        </p:nvSpPr>
        <p:spPr>
          <a:xfrm>
            <a:off x="640080" y="2011680"/>
            <a:ext cx="3657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 records</a:t>
            </a:r>
          </a:p>
          <a:p>
            <a:endParaRPr lang="en-US" sz="1000" dirty="0"/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 including:</a:t>
            </a:r>
          </a:p>
          <a:p>
            <a:endParaRPr lang="en-US" sz="1000" dirty="0"/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Demographics </a:t>
            </a:r>
            <a:r>
              <a:rPr lang="en-GB" sz="1000" dirty="0"/>
              <a:t>👤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(gender, senior citizen, Partner)</a:t>
            </a:r>
          </a:p>
          <a:p>
            <a:endParaRPr lang="en-US" sz="1000" dirty="0"/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Services </a:t>
            </a:r>
            <a:r>
              <a:rPr lang="en-GB" sz="1000" dirty="0"/>
              <a:t>📱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(internet, phone, streaming)</a:t>
            </a:r>
          </a:p>
          <a:p>
            <a:endParaRPr lang="en-US" sz="1000" dirty="0"/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Account info </a:t>
            </a:r>
            <a:r>
              <a:rPr lang="en-GB" sz="1000" dirty="0"/>
              <a:t>📁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(tenure, contract, payment method)</a:t>
            </a:r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Financials </a:t>
            </a:r>
            <a:r>
              <a:rPr lang="en-GB" sz="1000" dirty="0"/>
              <a:t>💰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(Charges)</a:t>
            </a:r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 dirty="0"/>
          </a:p>
          <a:p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Target: Churn (Yes/No)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</a:t>
            </a:r>
          </a:p>
          <a:p>
            <a:endParaRPr lang="en-GB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69"/>
            <a:ext cx="9143999" cy="118196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26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4" y="-3980833"/>
            <a:ext cx="1182335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739"/>
            <a:ext cx="3227567" cy="1181596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5" y="264870"/>
            <a:ext cx="5318475" cy="673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 2: Exploratory Data Analysis</a:t>
            </a:r>
            <a:endParaRPr lang="en-US" sz="30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099315-5BCE-0155-8A67-BD3E4817A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320461"/>
            <a:ext cx="3927926" cy="25276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893E46-8808-B92E-51B1-B4B176855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108" y="1320461"/>
            <a:ext cx="3579871" cy="25276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hape 1"/>
          <p:cNvSpPr/>
          <p:nvPr/>
        </p:nvSpPr>
        <p:spPr>
          <a:xfrm>
            <a:off x="457200" y="773723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091EC-A427-30FC-96E1-2D1A7CC7C3CD}"/>
              </a:ext>
            </a:extLst>
          </p:cNvPr>
          <p:cNvSpPr txBox="1"/>
          <p:nvPr/>
        </p:nvSpPr>
        <p:spPr>
          <a:xfrm>
            <a:off x="800100" y="4114800"/>
            <a:ext cx="7599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Churn Rate (26%)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is no significant difference between churn rates by gender.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75B318-3CEC-D82A-53EA-34C10FD32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4" y="861061"/>
            <a:ext cx="3598985" cy="267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805449-570B-1B32-DEF2-E328B17D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1061"/>
            <a:ext cx="3777175" cy="2673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A22272-13BC-734C-756C-C9609634A1C5}"/>
              </a:ext>
            </a:extLst>
          </p:cNvPr>
          <p:cNvSpPr txBox="1"/>
          <p:nvPr/>
        </p:nvSpPr>
        <p:spPr>
          <a:xfrm>
            <a:off x="668215" y="152400"/>
            <a:ext cx="7040880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</a:rPr>
              <a:t>Churn Rate by Partner Status and Dependents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30D977D-CDDB-D756-CFF8-8EE46C1BA36E}"/>
              </a:ext>
            </a:extLst>
          </p:cNvPr>
          <p:cNvSpPr/>
          <p:nvPr/>
        </p:nvSpPr>
        <p:spPr>
          <a:xfrm>
            <a:off x="668215" y="634693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97403B-4557-0F79-36E2-149B8E1DCD70}"/>
              </a:ext>
            </a:extLst>
          </p:cNvPr>
          <p:cNvSpPr txBox="1"/>
          <p:nvPr/>
        </p:nvSpPr>
        <p:spPr>
          <a:xfrm>
            <a:off x="668215" y="3817620"/>
            <a:ext cx="7680960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Churn Rate is higher customers who have no Partners and Dependents</a:t>
            </a:r>
          </a:p>
        </p:txBody>
      </p:sp>
    </p:spTree>
    <p:extLst>
      <p:ext uri="{BB962C8B-B14F-4D97-AF65-F5344CB8AC3E}">
        <p14:creationId xmlns:p14="http://schemas.microsoft.com/office/powerpoint/2010/main" val="1736377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E23A04-2929-2D96-52A3-A6EE47916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636715"/>
            <a:ext cx="2991086" cy="2038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80AD1F-434F-159B-3C62-0C1488CFA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81" y="2731770"/>
            <a:ext cx="8430039" cy="23545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914AA-E599-5769-BC91-B8A650155B43}"/>
              </a:ext>
            </a:extLst>
          </p:cNvPr>
          <p:cNvSpPr txBox="1"/>
          <p:nvPr/>
        </p:nvSpPr>
        <p:spPr>
          <a:xfrm>
            <a:off x="492981" y="111318"/>
            <a:ext cx="818984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Churn Rate by Senior Citizen and Tenure Distribution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2AD7311-9A6D-85A5-5B92-9EF9591A0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9428492"/>
              </p:ext>
            </p:extLst>
          </p:nvPr>
        </p:nvGraphicFramePr>
        <p:xfrm>
          <a:off x="3593990" y="587035"/>
          <a:ext cx="5329030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8181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49C1E4-CC50-6383-70B6-122BF0585741}"/>
              </a:ext>
            </a:extLst>
          </p:cNvPr>
          <p:cNvSpPr txBox="1"/>
          <p:nvPr/>
        </p:nvSpPr>
        <p:spPr>
          <a:xfrm>
            <a:off x="435364" y="77372"/>
            <a:ext cx="8297563" cy="465512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+mj-lt"/>
                <a:ea typeface="+mj-ea"/>
                <a:cs typeface="+mj-cs"/>
              </a:rPr>
              <a:t>Churn Rate by Contract type and Payment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89D13-0261-77BB-F865-2B85327A9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9" y="678180"/>
            <a:ext cx="3709891" cy="2369820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E2BDD-85CB-421D-102E-A6C93C5F3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57" y="678180"/>
            <a:ext cx="4199763" cy="2369820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C70F61-2082-A38E-46AA-96A7286842BB}"/>
              </a:ext>
            </a:extLst>
          </p:cNvPr>
          <p:cNvSpPr txBox="1"/>
          <p:nvPr/>
        </p:nvSpPr>
        <p:spPr>
          <a:xfrm>
            <a:off x="506895" y="3436620"/>
            <a:ext cx="8226033" cy="10287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Customers on month-to-month contracts show the highest churn rate. This indicates that shorter contract durations and tenures are linked to higher customer attrition.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Churn rate is highest among customers who use the electronic check payment method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154762" y="122007"/>
            <a:ext cx="3062575" cy="3062574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428AF-176D-1007-A704-5D66F5621C56}"/>
              </a:ext>
            </a:extLst>
          </p:cNvPr>
          <p:cNvSpPr txBox="1"/>
          <p:nvPr/>
        </p:nvSpPr>
        <p:spPr>
          <a:xfrm>
            <a:off x="335280" y="24825"/>
            <a:ext cx="8473440" cy="523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b="1" dirty="0"/>
              <a:t>Customer 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DC2E2-E7B4-AD5D-2A52-EF9F8AEC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609600"/>
            <a:ext cx="8496300" cy="2346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7C1BD-736B-4615-30C3-09155A10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3025140"/>
            <a:ext cx="2895600" cy="2026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1464A3-F133-D4D5-575A-01E78B2DF224}"/>
              </a:ext>
            </a:extLst>
          </p:cNvPr>
          <p:cNvSpPr txBox="1"/>
          <p:nvPr/>
        </p:nvSpPr>
        <p:spPr>
          <a:xfrm>
            <a:off x="3299460" y="3025140"/>
            <a:ext cx="553212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(Short Contract and  Medium/High Charges): High Risk (Mostly in Month-to-Month Contract type).</a:t>
            </a:r>
          </a:p>
          <a:p>
            <a:r>
              <a:rPr lang="en-US" sz="12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  <a:p>
            <a:r>
              <a:rPr lang="en-US" sz="12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(Long Contracts and High Charges): Loyal Premium (Dominated in One- and Two-year Contract types).</a:t>
            </a:r>
          </a:p>
          <a:p>
            <a:endParaRPr lang="en-US" sz="1200" b="1" dirty="0">
              <a:solidFill>
                <a:srgbClr val="0115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(Month to Month and Low Charges): New Low Spend (</a:t>
            </a: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in short Contract types and low Monthly Charges).</a:t>
            </a:r>
          </a:p>
          <a:p>
            <a:endParaRPr lang="en-US" sz="1200" b="1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(Long Contracts and moderate Charges): Stable Long-Term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614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6255"/>
            <a:ext cx="8229600" cy="459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9342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65001A9-4E9F-F049-3643-38895FC73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584333"/>
              </p:ext>
            </p:extLst>
          </p:nvPr>
        </p:nvGraphicFramePr>
        <p:xfrm>
          <a:off x="4929595" y="3591303"/>
          <a:ext cx="3757205" cy="1258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441">
                  <a:extLst>
                    <a:ext uri="{9D8B030D-6E8A-4147-A177-3AD203B41FA5}">
                      <a16:colId xmlns:a16="http://schemas.microsoft.com/office/drawing/2014/main" val="2654485953"/>
                    </a:ext>
                  </a:extLst>
                </a:gridCol>
                <a:gridCol w="751441">
                  <a:extLst>
                    <a:ext uri="{9D8B030D-6E8A-4147-A177-3AD203B41FA5}">
                      <a16:colId xmlns:a16="http://schemas.microsoft.com/office/drawing/2014/main" val="3066549423"/>
                    </a:ext>
                  </a:extLst>
                </a:gridCol>
                <a:gridCol w="751441">
                  <a:extLst>
                    <a:ext uri="{9D8B030D-6E8A-4147-A177-3AD203B41FA5}">
                      <a16:colId xmlns:a16="http://schemas.microsoft.com/office/drawing/2014/main" val="3775769505"/>
                    </a:ext>
                  </a:extLst>
                </a:gridCol>
                <a:gridCol w="751441">
                  <a:extLst>
                    <a:ext uri="{9D8B030D-6E8A-4147-A177-3AD203B41FA5}">
                      <a16:colId xmlns:a16="http://schemas.microsoft.com/office/drawing/2014/main" val="3650453245"/>
                    </a:ext>
                  </a:extLst>
                </a:gridCol>
                <a:gridCol w="751441">
                  <a:extLst>
                    <a:ext uri="{9D8B030D-6E8A-4147-A177-3AD203B41FA5}">
                      <a16:colId xmlns:a16="http://schemas.microsoft.com/office/drawing/2014/main" val="2721425185"/>
                    </a:ext>
                  </a:extLst>
                </a:gridCol>
              </a:tblGrid>
              <a:tr h="374554"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186225"/>
                  </a:ext>
                </a:extLst>
              </a:tr>
              <a:tr h="488101">
                <a:tc>
                  <a:txBody>
                    <a:bodyPr/>
                    <a:lstStyle/>
                    <a:p>
                      <a:r>
                        <a:rPr lang="en-GB" sz="1000" dirty="0"/>
                        <a:t>0 </a:t>
                      </a:r>
                    </a:p>
                    <a:p>
                      <a:r>
                        <a:rPr lang="en-GB" sz="1000" dirty="0"/>
                        <a:t>(No Churn)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0.70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0.80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1036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385865"/>
                  </a:ext>
                </a:extLst>
              </a:tr>
              <a:tr h="368698">
                <a:tc>
                  <a:txBody>
                    <a:bodyPr/>
                    <a:lstStyle/>
                    <a:p>
                      <a:r>
                        <a:rPr lang="en-GB" sz="1000" dirty="0"/>
                        <a:t>1 </a:t>
                      </a:r>
                    </a:p>
                    <a:p>
                      <a:r>
                        <a:rPr lang="en-GB" sz="1000" dirty="0"/>
                        <a:t>(Churn)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373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42234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6EB5A3C-FC1C-B327-479D-44B2F75A3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2749"/>
            <a:ext cx="4241409" cy="39692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E28901-4982-C2DA-7379-A844A92436A5}"/>
              </a:ext>
            </a:extLst>
          </p:cNvPr>
          <p:cNvSpPr txBox="1"/>
          <p:nvPr/>
        </p:nvSpPr>
        <p:spPr>
          <a:xfrm>
            <a:off x="5013998" y="2463795"/>
            <a:ext cx="37572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Logistic Regression model is chosen because of its high ROC-AUC and churn recall (better at catching churners) compared to other models.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3E16B7-9610-2B21-CAA8-8C6F3DA4A844}"/>
              </a:ext>
            </a:extLst>
          </p:cNvPr>
          <p:cNvSpPr txBox="1"/>
          <p:nvPr/>
        </p:nvSpPr>
        <p:spPr>
          <a:xfrm>
            <a:off x="5013998" y="922749"/>
            <a:ext cx="3256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Machine Learning Model Evaluated</a:t>
            </a:r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(ROC-AUC = 0.841)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(ROC-AUC = 0.784)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(ROC-AUC = 0.819)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(ROC_AUC = 0.819)</a:t>
            </a:r>
            <a:endParaRPr lang="en-GB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46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Churn Predictors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3266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800D8-C65E-0693-E9AA-9F7706C4E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0466"/>
            <a:ext cx="4497295" cy="31397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58F373-0490-84A5-3422-D38A568E4D9B}"/>
              </a:ext>
            </a:extLst>
          </p:cNvPr>
          <p:cNvSpPr txBox="1"/>
          <p:nvPr/>
        </p:nvSpPr>
        <p:spPr>
          <a:xfrm>
            <a:off x="5465298" y="1230466"/>
            <a:ext cx="3221502" cy="117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Top churn driver: High Monthly Charges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Top retention drivers: long contracts, tech/security add-ons, dependents, tenure, senior citizen, etc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 &amp; Interpretation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271368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161602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45073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75318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monthly charges are the strongest churn predictor. Customers paying premium prices need exceptional value delivery.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0030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48031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protective Services to high-risk customers since these services lower churn risk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8721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longer contract options to both new and existing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Strategic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060704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Targeted Retention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37624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Cluster 0 and month-to-month customers 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offers for high monthly charge customers 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promotions for fiber optic &amp; streaming users 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incentives with added value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6437" y="2776258"/>
            <a:ext cx="4065563" cy="1014984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278540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Customer Engagement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46006"/>
            <a:ext cx="3151163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to high-risk segments  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 from churn-prone groups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autopay &amp; credit card payments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based on model predictions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6437" y="3974825"/>
            <a:ext cx="4065563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39980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Marketing &amp; 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81619"/>
            <a:ext cx="3376246" cy="707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campaigns for recent churners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programs leveraging Cluster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improvements for fiber optic </a:t>
            </a: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add-on services &amp; improve value perception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948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104314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74652" y="1494692"/>
            <a:ext cx="6949440" cy="289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26.4% churn rate represents significant risk &amp; opportunity</a:t>
            </a:r>
            <a:endParaRPr lang="en-US" sz="1400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347 high-value customers need immediate attention</a:t>
            </a:r>
            <a:endParaRPr lang="en-US" sz="1400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Price is a primary churn drivers</a:t>
            </a:r>
            <a:endParaRPr lang="en-US" sz="1400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Month-to-month contracts = highest vulnerability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Targeted strategies can reduce churn by 15-20%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4EAFB7-8666-443E-B405-7D340A60500C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743</Words>
  <Application>Microsoft Office PowerPoint</Application>
  <PresentationFormat>On-screen Show (16:9)</PresentationFormat>
  <Paragraphs>138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- Complete Project</dc:title>
  <dc:subject>PptxGenJS Presentation</dc:subject>
  <dc:creator>Data Analytics Team</dc:creator>
  <cp:lastModifiedBy>Ayomide Olawumi</cp:lastModifiedBy>
  <cp:revision>12</cp:revision>
  <dcterms:created xsi:type="dcterms:W3CDTF">2026-02-13T20:26:20Z</dcterms:created>
  <dcterms:modified xsi:type="dcterms:W3CDTF">2026-02-19T17:42:41Z</dcterms:modified>
</cp:coreProperties>
</file>